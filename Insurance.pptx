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972" r:id="rId3"/>
  </p:sldMasterIdLst>
  <p:notesMasterIdLst>
    <p:notesMasterId r:id="rId10"/>
  </p:notesMasterIdLst>
  <p:sldIdLst>
    <p:sldId id="347" r:id="rId4"/>
    <p:sldId id="263" r:id="rId5"/>
    <p:sldId id="348" r:id="rId6"/>
    <p:sldId id="286" r:id="rId7"/>
    <p:sldId id="350" r:id="rId8"/>
    <p:sldId id="35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091EA"/>
    <a:srgbClr val="FF0000"/>
    <a:srgbClr val="00B41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9" autoAdjust="0"/>
    <p:restoredTop sz="94660"/>
  </p:normalViewPr>
  <p:slideViewPr>
    <p:cSldViewPr>
      <p:cViewPr varScale="1">
        <p:scale>
          <a:sx n="107" d="100"/>
          <a:sy n="107" d="100"/>
        </p:scale>
        <p:origin x="188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 m" userId="4b4dbe6fa4c08cd8" providerId="LiveId" clId="{C197CC20-63A9-45C3-9BA0-84FE05759D7B}"/>
    <pc:docChg chg="custSel modSld">
      <pc:chgData name="V m" userId="4b4dbe6fa4c08cd8" providerId="LiveId" clId="{C197CC20-63A9-45C3-9BA0-84FE05759D7B}" dt="2026-05-05T20:15:17.573" v="1869" actId="33524"/>
      <pc:docMkLst>
        <pc:docMk/>
      </pc:docMkLst>
      <pc:sldChg chg="modSp mod addAnim delAnim">
        <pc:chgData name="V m" userId="4b4dbe6fa4c08cd8" providerId="LiveId" clId="{C197CC20-63A9-45C3-9BA0-84FE05759D7B}" dt="2026-05-05T00:49:22.486" v="1868" actId="20577"/>
        <pc:sldMkLst>
          <pc:docMk/>
          <pc:sldMk cId="0" sldId="263"/>
        </pc:sldMkLst>
        <pc:graphicFrameChg chg="modGraphic">
          <ac:chgData name="V m" userId="4b4dbe6fa4c08cd8" providerId="LiveId" clId="{C197CC20-63A9-45C3-9BA0-84FE05759D7B}" dt="2026-05-05T00:49:22.486" v="1868" actId="20577"/>
          <ac:graphicFrameMkLst>
            <pc:docMk/>
            <pc:sldMk cId="0" sldId="263"/>
            <ac:graphicFrameMk id="15" creationId="{87E4C9F4-A204-A162-0E9A-AE97EC96F4F5}"/>
          </ac:graphicFrameMkLst>
        </pc:graphicFrameChg>
      </pc:sldChg>
      <pc:sldChg chg="addSp delSp modSp mod addAnim delAnim modAnim">
        <pc:chgData name="V m" userId="4b4dbe6fa4c08cd8" providerId="LiveId" clId="{C197CC20-63A9-45C3-9BA0-84FE05759D7B}" dt="2026-05-05T00:36:02.468" v="1777"/>
        <pc:sldMkLst>
          <pc:docMk/>
          <pc:sldMk cId="1994737542" sldId="286"/>
        </pc:sldMkLst>
        <pc:spChg chg="mod">
          <ac:chgData name="V m" userId="4b4dbe6fa4c08cd8" providerId="LiveId" clId="{C197CC20-63A9-45C3-9BA0-84FE05759D7B}" dt="2026-05-02T15:59:56.063" v="17" actId="1076"/>
          <ac:spMkLst>
            <pc:docMk/>
            <pc:sldMk cId="1994737542" sldId="286"/>
            <ac:spMk id="2" creationId="{00000000-0000-0000-0000-000000000000}"/>
          </ac:spMkLst>
        </pc:spChg>
        <pc:spChg chg="add mod">
          <ac:chgData name="V m" userId="4b4dbe6fa4c08cd8" providerId="LiveId" clId="{C197CC20-63A9-45C3-9BA0-84FE05759D7B}" dt="2026-05-05T00:17:16.714" v="1403" actId="14100"/>
          <ac:spMkLst>
            <pc:docMk/>
            <pc:sldMk cId="1994737542" sldId="286"/>
            <ac:spMk id="4" creationId="{468CADD0-3722-AC3E-3E55-629451BAA9A1}"/>
          </ac:spMkLst>
        </pc:spChg>
        <pc:spChg chg="add mod">
          <ac:chgData name="V m" userId="4b4dbe6fa4c08cd8" providerId="LiveId" clId="{C197CC20-63A9-45C3-9BA0-84FE05759D7B}" dt="2026-05-02T16:23:49.376" v="789" actId="1076"/>
          <ac:spMkLst>
            <pc:docMk/>
            <pc:sldMk cId="1994737542" sldId="286"/>
            <ac:spMk id="5" creationId="{AE9E990B-44F3-1EA2-5AB7-80C0EDE59E86}"/>
          </ac:spMkLst>
        </pc:spChg>
        <pc:spChg chg="add mod">
          <ac:chgData name="V m" userId="4b4dbe6fa4c08cd8" providerId="LiveId" clId="{C197CC20-63A9-45C3-9BA0-84FE05759D7B}" dt="2026-05-02T16:05:38.649" v="78" actId="1076"/>
          <ac:spMkLst>
            <pc:docMk/>
            <pc:sldMk cId="1994737542" sldId="286"/>
            <ac:spMk id="6" creationId="{BB0F4EF7-D110-D902-D41D-BC5E5417B357}"/>
          </ac:spMkLst>
        </pc:spChg>
        <pc:spChg chg="add mod">
          <ac:chgData name="V m" userId="4b4dbe6fa4c08cd8" providerId="LiveId" clId="{C197CC20-63A9-45C3-9BA0-84FE05759D7B}" dt="2026-05-02T16:06:40.495" v="107" actId="1076"/>
          <ac:spMkLst>
            <pc:docMk/>
            <pc:sldMk cId="1994737542" sldId="286"/>
            <ac:spMk id="7" creationId="{A714B0AF-1BCC-8259-C0C2-BB217457F65F}"/>
          </ac:spMkLst>
        </pc:spChg>
        <pc:picChg chg="add del mod">
          <ac:chgData name="V m" userId="4b4dbe6fa4c08cd8" providerId="LiveId" clId="{C197CC20-63A9-45C3-9BA0-84FE05759D7B}" dt="2026-05-05T00:12:43.664" v="1388" actId="478"/>
          <ac:picMkLst>
            <pc:docMk/>
            <pc:sldMk cId="1994737542" sldId="286"/>
            <ac:picMk id="1028" creationId="{59C4B1E0-ED8F-07FA-2B8A-8386C41BA4C3}"/>
          </ac:picMkLst>
        </pc:picChg>
        <pc:picChg chg="add del mod">
          <ac:chgData name="V m" userId="4b4dbe6fa4c08cd8" providerId="LiveId" clId="{C197CC20-63A9-45C3-9BA0-84FE05759D7B}" dt="2026-05-05T00:02:57.024" v="1368" actId="478"/>
          <ac:picMkLst>
            <pc:docMk/>
            <pc:sldMk cId="1994737542" sldId="286"/>
            <ac:picMk id="1030" creationId="{27537055-E9C0-28D9-D0F8-9CD0E6BB8EFB}"/>
          </ac:picMkLst>
        </pc:picChg>
        <pc:picChg chg="add del mod">
          <ac:chgData name="V m" userId="4b4dbe6fa4c08cd8" providerId="LiveId" clId="{C197CC20-63A9-45C3-9BA0-84FE05759D7B}" dt="2026-05-05T00:11:30.175" v="1382" actId="478"/>
          <ac:picMkLst>
            <pc:docMk/>
            <pc:sldMk cId="1994737542" sldId="286"/>
            <ac:picMk id="1032" creationId="{F81A82EB-292E-F954-C2E2-D127403E59E9}"/>
          </ac:picMkLst>
        </pc:picChg>
        <pc:picChg chg="add del mod">
          <ac:chgData name="V m" userId="4b4dbe6fa4c08cd8" providerId="LiveId" clId="{C197CC20-63A9-45C3-9BA0-84FE05759D7B}" dt="2026-05-05T00:03:41.743" v="1374" actId="478"/>
          <ac:picMkLst>
            <pc:docMk/>
            <pc:sldMk cId="1994737542" sldId="286"/>
            <ac:picMk id="1034" creationId="{049AEF27-4330-273F-223C-FE16B8B23A16}"/>
          </ac:picMkLst>
        </pc:picChg>
        <pc:picChg chg="add del mod">
          <ac:chgData name="V m" userId="4b4dbe6fa4c08cd8" providerId="LiveId" clId="{C197CC20-63A9-45C3-9BA0-84FE05759D7B}" dt="2026-05-05T00:16:47.876" v="1394" actId="478"/>
          <ac:picMkLst>
            <pc:docMk/>
            <pc:sldMk cId="1994737542" sldId="286"/>
            <ac:picMk id="1036" creationId="{7B490037-BF5F-D05B-735E-11F312C80AE9}"/>
          </ac:picMkLst>
        </pc:picChg>
        <pc:picChg chg="add del mod">
          <ac:chgData name="V m" userId="4b4dbe6fa4c08cd8" providerId="LiveId" clId="{C197CC20-63A9-45C3-9BA0-84FE05759D7B}" dt="2026-05-05T00:19:36.034" v="1409" actId="478"/>
          <ac:picMkLst>
            <pc:docMk/>
            <pc:sldMk cId="1994737542" sldId="286"/>
            <ac:picMk id="1038" creationId="{ED351D1B-5DCF-D666-15F3-2AD616A1AC3A}"/>
          </ac:picMkLst>
        </pc:picChg>
        <pc:picChg chg="add mod">
          <ac:chgData name="V m" userId="4b4dbe6fa4c08cd8" providerId="LiveId" clId="{C197CC20-63A9-45C3-9BA0-84FE05759D7B}" dt="2026-05-05T00:13:09.078" v="1393" actId="1076"/>
          <ac:picMkLst>
            <pc:docMk/>
            <pc:sldMk cId="1994737542" sldId="286"/>
            <ac:picMk id="1040" creationId="{6A491693-A60B-C66E-D502-407C617B377A}"/>
          </ac:picMkLst>
        </pc:picChg>
        <pc:picChg chg="add mod">
          <ac:chgData name="V m" userId="4b4dbe6fa4c08cd8" providerId="LiveId" clId="{C197CC20-63A9-45C3-9BA0-84FE05759D7B}" dt="2026-05-05T00:17:44.937" v="1408" actId="1076"/>
          <ac:picMkLst>
            <pc:docMk/>
            <pc:sldMk cId="1994737542" sldId="286"/>
            <ac:picMk id="1042" creationId="{D16099C3-E8DD-CE95-515D-ED5B5951AFDE}"/>
          </ac:picMkLst>
        </pc:picChg>
        <pc:picChg chg="add mod">
          <ac:chgData name="V m" userId="4b4dbe6fa4c08cd8" providerId="LiveId" clId="{C197CC20-63A9-45C3-9BA0-84FE05759D7B}" dt="2026-05-05T00:20:03.873" v="1415" actId="1076"/>
          <ac:picMkLst>
            <pc:docMk/>
            <pc:sldMk cId="1994737542" sldId="286"/>
            <ac:picMk id="1044" creationId="{EF9EF8AF-EF54-1C7A-E917-3D9AEFC7E6AC}"/>
          </ac:picMkLst>
        </pc:picChg>
      </pc:sldChg>
      <pc:sldChg chg="modSp addAnim delAnim modAnim">
        <pc:chgData name="V m" userId="4b4dbe6fa4c08cd8" providerId="LiveId" clId="{C197CC20-63A9-45C3-9BA0-84FE05759D7B}" dt="2026-05-05T20:15:17.573" v="1869" actId="33524"/>
        <pc:sldMkLst>
          <pc:docMk/>
          <pc:sldMk cId="204995627" sldId="347"/>
        </pc:sldMkLst>
        <pc:spChg chg="mod">
          <ac:chgData name="V m" userId="4b4dbe6fa4c08cd8" providerId="LiveId" clId="{C197CC20-63A9-45C3-9BA0-84FE05759D7B}" dt="2026-05-05T20:15:17.573" v="1869" actId="33524"/>
          <ac:spMkLst>
            <pc:docMk/>
            <pc:sldMk cId="204995627" sldId="347"/>
            <ac:spMk id="2" creationId="{CD9C9E95-06D2-5357-ECCB-8C2896AA0CD9}"/>
          </ac:spMkLst>
        </pc:spChg>
        <pc:spChg chg="mod">
          <ac:chgData name="V m" userId="4b4dbe6fa4c08cd8" providerId="LiveId" clId="{C197CC20-63A9-45C3-9BA0-84FE05759D7B}" dt="2026-05-05T00:28:46.058" v="1756" actId="6549"/>
          <ac:spMkLst>
            <pc:docMk/>
            <pc:sldMk cId="204995627" sldId="347"/>
            <ac:spMk id="6" creationId="{00000000-0000-0000-0000-000000000000}"/>
          </ac:spMkLst>
        </pc:spChg>
      </pc:sldChg>
      <pc:sldChg chg="modSp mod addAnim delAnim modAnim">
        <pc:chgData name="V m" userId="4b4dbe6fa4c08cd8" providerId="LiveId" clId="{C197CC20-63A9-45C3-9BA0-84FE05759D7B}" dt="2026-05-05T00:45:37.233" v="1848" actId="1076"/>
        <pc:sldMkLst>
          <pc:docMk/>
          <pc:sldMk cId="3118324211" sldId="348"/>
        </pc:sldMkLst>
        <pc:spChg chg="mod">
          <ac:chgData name="V m" userId="4b4dbe6fa4c08cd8" providerId="LiveId" clId="{C197CC20-63A9-45C3-9BA0-84FE05759D7B}" dt="2026-05-05T00:45:07.635" v="1843" actId="1076"/>
          <ac:spMkLst>
            <pc:docMk/>
            <pc:sldMk cId="3118324211" sldId="348"/>
            <ac:spMk id="5" creationId="{6BDC7A33-0AF2-8AAE-5DCD-BFF234365456}"/>
          </ac:spMkLst>
        </pc:spChg>
        <pc:spChg chg="mod">
          <ac:chgData name="V m" userId="4b4dbe6fa4c08cd8" providerId="LiveId" clId="{C197CC20-63A9-45C3-9BA0-84FE05759D7B}" dt="2026-05-05T00:45:37.233" v="1848" actId="1076"/>
          <ac:spMkLst>
            <pc:docMk/>
            <pc:sldMk cId="3118324211" sldId="348"/>
            <ac:spMk id="7" creationId="{4E525C59-CD96-DDAA-8657-5C7E45937652}"/>
          </ac:spMkLst>
        </pc:spChg>
      </pc:sldChg>
      <pc:sldChg chg="addSp modSp mod addAnim delAnim modAnim">
        <pc:chgData name="V m" userId="4b4dbe6fa4c08cd8" providerId="LiveId" clId="{C197CC20-63A9-45C3-9BA0-84FE05759D7B}" dt="2026-05-05T00:35:24.613" v="1775"/>
        <pc:sldMkLst>
          <pc:docMk/>
          <pc:sldMk cId="864157676" sldId="350"/>
        </pc:sldMkLst>
        <pc:spChg chg="add mod">
          <ac:chgData name="V m" userId="4b4dbe6fa4c08cd8" providerId="LiveId" clId="{C197CC20-63A9-45C3-9BA0-84FE05759D7B}" dt="2026-05-05T00:26:51.745" v="1739" actId="20577"/>
          <ac:spMkLst>
            <pc:docMk/>
            <pc:sldMk cId="864157676" sldId="350"/>
            <ac:spMk id="2" creationId="{D3D01E6E-E75E-382D-34FC-91C6DE919A59}"/>
          </ac:spMkLst>
        </pc:spChg>
      </pc:sldChg>
      <pc:sldChg chg="addAnim delAnim modAnim">
        <pc:chgData name="V m" userId="4b4dbe6fa4c08cd8" providerId="LiveId" clId="{C197CC20-63A9-45C3-9BA0-84FE05759D7B}" dt="2026-05-05T00:42:27.839" v="1784"/>
        <pc:sldMkLst>
          <pc:docMk/>
          <pc:sldMk cId="607295376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A6E38-82B1-47BB-A812-313B295FEFF2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89E94-532B-494D-AD7A-712B16D9F5A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98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89E94-532B-494D-AD7A-712B16D9F5A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01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89E94-532B-494D-AD7A-712B16D9F5A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4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604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5317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057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4810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915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533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2574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382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628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3774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61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545F7-77F9-4401-AA0E-BF14C26D8903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E0586-5A1C-41FD-AA9D-07A4E729E6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B7A0F-5B99-4F35-9BDD-321CD3C098FF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B3369-7666-44EB-AEA9-5FA9440DB4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B7A0F-5B99-4F35-9BDD-321CD3C098F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5/5/2026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B3369-7666-44EB-AEA9-5FA9440DB40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6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a.cityofnewyork.us/Public-Safety/Motor-Vehicle-Collisions-Person/f55k-p6yu/about_dat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605028" y="228600"/>
            <a:ext cx="7734300" cy="97155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n>
                  <a:solidFill>
                    <a:srgbClr val="C00000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Auto Insurance Rate  </a:t>
            </a:r>
            <a:endParaRPr lang="ru-RU" sz="4000" dirty="0">
              <a:ln>
                <a:solidFill>
                  <a:srgbClr val="C00000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8"/>
          <p:cNvSpPr txBox="1">
            <a:spLocks noChangeArrowheads="1"/>
          </p:cNvSpPr>
          <p:nvPr/>
        </p:nvSpPr>
        <p:spPr>
          <a:xfrm>
            <a:off x="6019800" y="5867400"/>
            <a:ext cx="2743200" cy="5143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600" dirty="0">
                <a:ln>
                  <a:gradFill flip="none" rotWithShape="1">
                    <a:gsLst>
                      <a:gs pos="0">
                        <a:schemeClr val="accent3">
                          <a:lumMod val="40000"/>
                          <a:lumOff val="60000"/>
                        </a:schemeClr>
                      </a:gs>
                      <a:gs pos="46000">
                        <a:schemeClr val="accent3">
                          <a:lumMod val="95000"/>
                          <a:lumOff val="5000"/>
                        </a:schemeClr>
                      </a:gs>
                      <a:gs pos="100000">
                        <a:schemeClr val="accent3">
                          <a:lumMod val="60000"/>
                        </a:schemeClr>
                      </a:gs>
                    </a:gsLst>
                    <a:path path="circle">
                      <a:fillToRect l="50000" t="130000" r="50000" b="-30000"/>
                    </a:path>
                    <a:tileRect/>
                  </a:gra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Virna Miller-Clark</a:t>
            </a:r>
            <a:endParaRPr lang="ru-RU" sz="2600" dirty="0">
              <a:ln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46000">
                      <a:schemeClr val="accent3">
                        <a:lumMod val="95000"/>
                        <a:lumOff val="5000"/>
                      </a:schemeClr>
                    </a:gs>
                    <a:gs pos="100000">
                      <a:schemeClr val="accent3">
                        <a:lumMod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9C9E95-06D2-5357-ECCB-8C2896AA0CD9}"/>
              </a:ext>
            </a:extLst>
          </p:cNvPr>
          <p:cNvSpPr txBox="1"/>
          <p:nvPr/>
        </p:nvSpPr>
        <p:spPr>
          <a:xfrm>
            <a:off x="1102614" y="1015484"/>
            <a:ext cx="693877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gradFill flip="none" rotWithShape="1"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  <a:tileRect/>
                  </a:gradFill>
                </a:ln>
                <a:solidFill>
                  <a:schemeClr val="accent3">
                    <a:lumMod val="40000"/>
                    <a:lumOff val="60000"/>
                  </a:schemeClr>
                </a:solidFill>
              </a:rPr>
              <a:t>Are insurance companies justified in charging male drivers' higher rates?</a:t>
            </a:r>
          </a:p>
        </p:txBody>
      </p:sp>
    </p:spTree>
    <p:extLst>
      <p:ext uri="{BB962C8B-B14F-4D97-AF65-F5344CB8AC3E}">
        <p14:creationId xmlns:p14="http://schemas.microsoft.com/office/powerpoint/2010/main" val="20499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66800" y="1828800"/>
            <a:ext cx="7010400" cy="4165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endParaRPr lang="en-US" sz="1400" dirty="0">
              <a:solidFill>
                <a:schemeClr val="accent1">
                  <a:lumMod val="50000"/>
                </a:schemeClr>
              </a:solidFill>
              <a:latin typeface="Arial" charset="0"/>
              <a:ea typeface="굴림" pitchFamily="34" charset="-127"/>
            </a:endParaRPr>
          </a:p>
        </p:txBody>
      </p:sp>
      <p:sp>
        <p:nvSpPr>
          <p:cNvPr id="2" name="Rectangle 1" descr="Bullseye">
            <a:extLst>
              <a:ext uri="{FF2B5EF4-FFF2-40B4-BE49-F238E27FC236}">
                <a16:creationId xmlns:a16="http://schemas.microsoft.com/office/drawing/2014/main" id="{1584F43F-8E59-2B68-D5CB-2DB375C09F51}"/>
              </a:ext>
            </a:extLst>
          </p:cNvPr>
          <p:cNvSpPr/>
          <p:nvPr/>
        </p:nvSpPr>
        <p:spPr>
          <a:xfrm>
            <a:off x="4032106" y="1524000"/>
            <a:ext cx="1079788" cy="99060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FF0000"/>
            </a:outerShdw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7E4C9F4-A204-A162-0E9A-AE97EC96F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436911"/>
              </p:ext>
            </p:extLst>
          </p:nvPr>
        </p:nvGraphicFramePr>
        <p:xfrm>
          <a:off x="990600" y="2667000"/>
          <a:ext cx="7467599" cy="1343025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1395751">
                  <a:extLst>
                    <a:ext uri="{9D8B030D-6E8A-4147-A177-3AD203B41FA5}">
                      <a16:colId xmlns:a16="http://schemas.microsoft.com/office/drawing/2014/main" val="3944139049"/>
                    </a:ext>
                  </a:extLst>
                </a:gridCol>
                <a:gridCol w="1763056">
                  <a:extLst>
                    <a:ext uri="{9D8B030D-6E8A-4147-A177-3AD203B41FA5}">
                      <a16:colId xmlns:a16="http://schemas.microsoft.com/office/drawing/2014/main" val="1473845989"/>
                    </a:ext>
                  </a:extLst>
                </a:gridCol>
                <a:gridCol w="1763056">
                  <a:extLst>
                    <a:ext uri="{9D8B030D-6E8A-4147-A177-3AD203B41FA5}">
                      <a16:colId xmlns:a16="http://schemas.microsoft.com/office/drawing/2014/main" val="1595217878"/>
                    </a:ext>
                  </a:extLst>
                </a:gridCol>
                <a:gridCol w="881530">
                  <a:extLst>
                    <a:ext uri="{9D8B030D-6E8A-4147-A177-3AD203B41FA5}">
                      <a16:colId xmlns:a16="http://schemas.microsoft.com/office/drawing/2014/main" val="894975751"/>
                    </a:ext>
                  </a:extLst>
                </a:gridCol>
                <a:gridCol w="746853">
                  <a:extLst>
                    <a:ext uri="{9D8B030D-6E8A-4147-A177-3AD203B41FA5}">
                      <a16:colId xmlns:a16="http://schemas.microsoft.com/office/drawing/2014/main" val="251210022"/>
                    </a:ext>
                  </a:extLst>
                </a:gridCol>
                <a:gridCol w="917353">
                  <a:extLst>
                    <a:ext uri="{9D8B030D-6E8A-4147-A177-3AD203B41FA5}">
                      <a16:colId xmlns:a16="http://schemas.microsoft.com/office/drawing/2014/main" val="1704804643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Auto Crash Data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389727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 Created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Last Updated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9316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July 30, 2019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4,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NYPD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60586"/>
                  </a:ext>
                </a:extLst>
              </a:tr>
              <a:tr h="240665"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 Set Link: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Motor Vehicle Collisions - Person | NYC Open Data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4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02808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C70E-CCDA-8FE7-991E-BE7EB1B37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7620DD-4E69-D589-8FB8-42AB70B297CD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828800"/>
            <a:ext cx="7010400" cy="4165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endParaRPr lang="en-US" sz="1400" dirty="0">
              <a:solidFill>
                <a:schemeClr val="accent1">
                  <a:lumMod val="50000"/>
                </a:schemeClr>
              </a:solidFill>
              <a:latin typeface="Arial" charset="0"/>
              <a:ea typeface="굴림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373F3-83F5-C480-ED94-8B393D0FAE54}"/>
              </a:ext>
            </a:extLst>
          </p:cNvPr>
          <p:cNvSpPr txBox="1"/>
          <p:nvPr/>
        </p:nvSpPr>
        <p:spPr>
          <a:xfrm>
            <a:off x="3048000" y="2364998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n>
                  <a:solidFill>
                    <a:srgbClr val="C00000"/>
                  </a:solidFill>
                </a:ln>
              </a:rPr>
              <a:t>Data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C7A33-0AF2-8AAE-5DCD-BFF234365456}"/>
              </a:ext>
            </a:extLst>
          </p:cNvPr>
          <p:cNvSpPr txBox="1"/>
          <p:nvPr/>
        </p:nvSpPr>
        <p:spPr>
          <a:xfrm>
            <a:off x="990600" y="3003659"/>
            <a:ext cx="4305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Import Data 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Review all column headers 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Identify required columns for analysis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Check for Null/NaN Data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Create a subset - Identify required columns for analysis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Filter by Crash Date 01/01/2020 – 04/30/2026</a:t>
            </a:r>
          </a:p>
        </p:txBody>
      </p:sp>
      <p:sp>
        <p:nvSpPr>
          <p:cNvPr id="6" name="Rectangle 5" descr="Bar chart">
            <a:extLst>
              <a:ext uri="{FF2B5EF4-FFF2-40B4-BE49-F238E27FC236}">
                <a16:creationId xmlns:a16="http://schemas.microsoft.com/office/drawing/2014/main" id="{A7697129-CB98-66EC-96F0-C27F41835349}"/>
              </a:ext>
            </a:extLst>
          </p:cNvPr>
          <p:cNvSpPr/>
          <p:nvPr/>
        </p:nvSpPr>
        <p:spPr>
          <a:xfrm>
            <a:off x="3997253" y="1396583"/>
            <a:ext cx="1149494" cy="105941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C00000"/>
            </a:outerShdw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25C59-CD96-DDAA-8657-5C7E45937652}"/>
              </a:ext>
            </a:extLst>
          </p:cNvPr>
          <p:cNvSpPr txBox="1"/>
          <p:nvPr/>
        </p:nvSpPr>
        <p:spPr>
          <a:xfrm>
            <a:off x="5314950" y="2968843"/>
            <a:ext cx="327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Filter by Role &amp; Gender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Select records where:</a:t>
            </a:r>
          </a:p>
          <a:p>
            <a:pPr>
              <a:buClr>
                <a:srgbClr val="C00000"/>
              </a:buClr>
            </a:pPr>
            <a:r>
              <a:rPr lang="en-US" sz="1600" dirty="0"/>
              <a:t>                  Role = Driver</a:t>
            </a:r>
          </a:p>
          <a:p>
            <a:pPr>
              <a:buClr>
                <a:srgbClr val="C00000"/>
              </a:buClr>
            </a:pPr>
            <a:r>
              <a:rPr lang="en-US" sz="1600" dirty="0"/>
              <a:t>                  Gender = Male/Female 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Filter by Injury Type: </a:t>
            </a:r>
          </a:p>
          <a:p>
            <a:pPr>
              <a:buClr>
                <a:srgbClr val="C00000"/>
              </a:buClr>
            </a:pPr>
            <a:r>
              <a:rPr lang="en-US" sz="1600" dirty="0"/>
              <a:t>                  Head Injuries </a:t>
            </a:r>
          </a:p>
          <a:p>
            <a:pPr>
              <a:buClr>
                <a:srgbClr val="C00000"/>
              </a:buClr>
            </a:pPr>
            <a:r>
              <a:rPr lang="en-US" sz="1600" dirty="0"/>
              <a:t>                  No Injuries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1600" dirty="0"/>
              <a:t>Filter by Age Range:</a:t>
            </a:r>
          </a:p>
          <a:p>
            <a:pPr>
              <a:buClr>
                <a:srgbClr val="C00000"/>
              </a:buClr>
            </a:pPr>
            <a:r>
              <a:rPr lang="en-US" sz="1600" dirty="0"/>
              <a:t>                  Age between 16 and 30</a:t>
            </a:r>
          </a:p>
        </p:txBody>
      </p:sp>
    </p:spTree>
    <p:extLst>
      <p:ext uri="{BB962C8B-B14F-4D97-AF65-F5344CB8AC3E}">
        <p14:creationId xmlns:p14="http://schemas.microsoft.com/office/powerpoint/2010/main" val="311832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1844489" y="76200"/>
            <a:ext cx="7239000" cy="715963"/>
          </a:xfrm>
        </p:spPr>
        <p:txBody>
          <a:bodyPr/>
          <a:lstStyle/>
          <a:p>
            <a:r>
              <a:rPr lang="en-US" sz="3600" dirty="0">
                <a:ln>
                  <a:solidFill>
                    <a:srgbClr val="C00000"/>
                  </a:solidFill>
                </a:ln>
              </a:rPr>
              <a:t>Male Vs. Female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CADD0-3722-AC3E-3E55-629451BAA9A1}"/>
              </a:ext>
            </a:extLst>
          </p:cNvPr>
          <p:cNvSpPr txBox="1"/>
          <p:nvPr/>
        </p:nvSpPr>
        <p:spPr>
          <a:xfrm>
            <a:off x="3352800" y="616683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E990B-44F3-1EA2-5AB7-80C0EDE59E86}"/>
              </a:ext>
            </a:extLst>
          </p:cNvPr>
          <p:cNvSpPr txBox="1"/>
          <p:nvPr/>
        </p:nvSpPr>
        <p:spPr>
          <a:xfrm>
            <a:off x="7039326" y="6199828"/>
            <a:ext cx="115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F4EF7-D110-D902-D41D-BC5E5417B357}"/>
              </a:ext>
            </a:extLst>
          </p:cNvPr>
          <p:cNvSpPr txBox="1"/>
          <p:nvPr/>
        </p:nvSpPr>
        <p:spPr>
          <a:xfrm>
            <a:off x="4648200" y="330270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Injuries by Gender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4B0AF-1BCC-8259-C0C2-BB217457F65F}"/>
              </a:ext>
            </a:extLst>
          </p:cNvPr>
          <p:cNvSpPr txBox="1"/>
          <p:nvPr/>
        </p:nvSpPr>
        <p:spPr>
          <a:xfrm>
            <a:off x="2514600" y="1326122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Accidents by Gender</a:t>
            </a: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6A491693-A60B-C66E-D502-407C617B3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619858"/>
            <a:ext cx="4016375" cy="278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D16099C3-E8DD-CE95-515D-ED5B5951A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277" y="3664388"/>
            <a:ext cx="3726646" cy="257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EF9EF8AF-EF54-1C7A-E917-3D9AEFC7E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910" y="3689443"/>
            <a:ext cx="3654090" cy="252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73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327B0-FF08-F46E-339A-B98907C0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BD1B69-7458-1242-76C6-747FF7C34E21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828800"/>
            <a:ext cx="7010400" cy="4165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endParaRPr lang="en-US" sz="1400" dirty="0">
              <a:solidFill>
                <a:schemeClr val="accent1">
                  <a:lumMod val="50000"/>
                </a:schemeClr>
              </a:solidFill>
              <a:latin typeface="Arial" charset="0"/>
              <a:ea typeface="굴림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8CE79-4DE1-7265-A897-6479DB18E32E}"/>
              </a:ext>
            </a:extLst>
          </p:cNvPr>
          <p:cNvSpPr txBox="1"/>
          <p:nvPr/>
        </p:nvSpPr>
        <p:spPr>
          <a:xfrm>
            <a:off x="76200" y="2131165"/>
            <a:ext cx="899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 dirty="0">
                <a:ln>
                  <a:solidFill>
                    <a:srgbClr val="C00000"/>
                  </a:solidFill>
                </a:ln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Rectangle 2" descr="Checkmark">
            <a:extLst>
              <a:ext uri="{FF2B5EF4-FFF2-40B4-BE49-F238E27FC236}">
                <a16:creationId xmlns:a16="http://schemas.microsoft.com/office/drawing/2014/main" id="{4EE07207-FF71-E595-FBA9-B12CE9C25867}"/>
              </a:ext>
            </a:extLst>
          </p:cNvPr>
          <p:cNvSpPr/>
          <p:nvPr/>
        </p:nvSpPr>
        <p:spPr>
          <a:xfrm>
            <a:off x="4227476" y="1446785"/>
            <a:ext cx="689047" cy="76403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50800" dist="50800" dir="5400000" algn="ctr" rotWithShape="0">
              <a:srgbClr val="C00000"/>
            </a:outerShdw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D01E6E-E75E-382D-34FC-91C6DE919A59}"/>
              </a:ext>
            </a:extLst>
          </p:cNvPr>
          <p:cNvSpPr txBox="1"/>
          <p:nvPr/>
        </p:nvSpPr>
        <p:spPr>
          <a:xfrm>
            <a:off x="1143000" y="2971800"/>
            <a:ext cx="701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analysis of this crash dataset, men and women aged 16 to 30 in NY have been involved in 634,769 accidents. This was during the period of 01/01/2020 &amp; 04/30/2026. It was found that men have had 329,109 more accidents than women during this timeframe. There are 2,290 more head injuries amongst male drivers than female drivers in this data set. </a:t>
            </a:r>
          </a:p>
          <a:p>
            <a:r>
              <a:rPr lang="en-US" dirty="0"/>
              <a:t>Based on the data in this data set, insurance companies would have a reason to charge men higher insurance rates in the NY area. This is only one of the factors that may cause male drivers to pay higher insurance rates. </a:t>
            </a:r>
          </a:p>
        </p:txBody>
      </p:sp>
    </p:spTree>
    <p:extLst>
      <p:ext uri="{BB962C8B-B14F-4D97-AF65-F5344CB8AC3E}">
        <p14:creationId xmlns:p14="http://schemas.microsoft.com/office/powerpoint/2010/main" val="86415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40BC0-A8D1-635F-5BA8-14FFF385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19C267E8-7899-D58D-9C1D-FCB17B549626}"/>
              </a:ext>
            </a:extLst>
          </p:cNvPr>
          <p:cNvSpPr txBox="1">
            <a:spLocks noChangeArrowheads="1"/>
          </p:cNvSpPr>
          <p:nvPr/>
        </p:nvSpPr>
        <p:spPr>
          <a:xfrm>
            <a:off x="6019800" y="5867400"/>
            <a:ext cx="2743200" cy="5143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600" dirty="0">
                <a:ln>
                  <a:gradFill flip="none" rotWithShape="1">
                    <a:gsLst>
                      <a:gs pos="0">
                        <a:schemeClr val="accent3">
                          <a:lumMod val="40000"/>
                          <a:lumOff val="60000"/>
                        </a:schemeClr>
                      </a:gs>
                      <a:gs pos="46000">
                        <a:schemeClr val="accent3">
                          <a:lumMod val="95000"/>
                          <a:lumOff val="5000"/>
                        </a:schemeClr>
                      </a:gs>
                      <a:gs pos="100000">
                        <a:schemeClr val="accent3">
                          <a:lumMod val="60000"/>
                        </a:schemeClr>
                      </a:gs>
                    </a:gsLst>
                    <a:path path="circle">
                      <a:fillToRect l="50000" t="130000" r="50000" b="-30000"/>
                    </a:path>
                    <a:tileRect/>
                  </a:gra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Virna Miller-Clark</a:t>
            </a:r>
            <a:endParaRPr lang="ru-RU" sz="2600" dirty="0">
              <a:ln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46000">
                      <a:schemeClr val="accent3">
                        <a:lumMod val="95000"/>
                        <a:lumOff val="5000"/>
                      </a:schemeClr>
                    </a:gs>
                    <a:gs pos="100000">
                      <a:schemeClr val="accent3">
                        <a:lumMod val="60000"/>
                      </a:schemeClr>
                    </a:gs>
                  </a:gsLst>
                  <a:path path="circle">
                    <a:fillToRect l="50000" t="130000" r="50000" b="-30000"/>
                  </a:path>
                  <a:tileRect/>
                </a:gradFill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ibbon: Tilted Up 2">
            <a:extLst>
              <a:ext uri="{FF2B5EF4-FFF2-40B4-BE49-F238E27FC236}">
                <a16:creationId xmlns:a16="http://schemas.microsoft.com/office/drawing/2014/main" id="{135A5CDE-0F3A-D2B2-EC59-7C52759B4B9F}"/>
              </a:ext>
            </a:extLst>
          </p:cNvPr>
          <p:cNvSpPr/>
          <p:nvPr/>
        </p:nvSpPr>
        <p:spPr>
          <a:xfrm>
            <a:off x="76200" y="28575"/>
            <a:ext cx="8991600" cy="1219200"/>
          </a:xfrm>
          <a:prstGeom prst="ribbon2">
            <a:avLst/>
          </a:prstGeom>
          <a:effectLst>
            <a:outerShdw blurRad="50800" dist="50800" dir="5400000" algn="ctr" rotWithShape="0">
              <a:srgbClr val="C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AD062-5A1C-3A7F-0F60-A8370AE7C8D5}"/>
              </a:ext>
            </a:extLst>
          </p:cNvPr>
          <p:cNvSpPr txBox="1">
            <a:spLocks noChangeArrowheads="1"/>
          </p:cNvSpPr>
          <p:nvPr/>
        </p:nvSpPr>
        <p:spPr>
          <a:xfrm>
            <a:off x="1771650" y="152400"/>
            <a:ext cx="5591175" cy="8382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>
                <a:ln>
                  <a:solidFill>
                    <a:srgbClr val="C00000"/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  <a:endParaRPr lang="ru-RU" sz="7200" dirty="0">
              <a:ln>
                <a:solidFill>
                  <a:srgbClr val="C00000"/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0729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Custom 61">
      <a:dk1>
        <a:sysClr val="windowText" lastClr="000000"/>
      </a:dk1>
      <a:lt1>
        <a:sysClr val="window" lastClr="FFFFFF"/>
      </a:lt1>
      <a:dk2>
        <a:srgbClr val="6D787D"/>
      </a:dk2>
      <a:lt2>
        <a:srgbClr val="EEECE1"/>
      </a:lt2>
      <a:accent1>
        <a:srgbClr val="3F3F3F"/>
      </a:accent1>
      <a:accent2>
        <a:srgbClr val="808080"/>
      </a:accent2>
      <a:accent3>
        <a:srgbClr val="E20000"/>
      </a:accent3>
      <a:accent4>
        <a:srgbClr val="A6AEB1"/>
      </a:accent4>
      <a:accent5>
        <a:srgbClr val="5F5F5F"/>
      </a:accent5>
      <a:accent6>
        <a:srgbClr val="BDC7CB"/>
      </a:accent6>
      <a:hlink>
        <a:srgbClr val="61769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61">
      <a:dk1>
        <a:sysClr val="windowText" lastClr="000000"/>
      </a:dk1>
      <a:lt1>
        <a:sysClr val="window" lastClr="FFFFFF"/>
      </a:lt1>
      <a:dk2>
        <a:srgbClr val="6D787D"/>
      </a:dk2>
      <a:lt2>
        <a:srgbClr val="EEECE1"/>
      </a:lt2>
      <a:accent1>
        <a:srgbClr val="3F3F3F"/>
      </a:accent1>
      <a:accent2>
        <a:srgbClr val="808080"/>
      </a:accent2>
      <a:accent3>
        <a:srgbClr val="E20000"/>
      </a:accent3>
      <a:accent4>
        <a:srgbClr val="A6AEB1"/>
      </a:accent4>
      <a:accent5>
        <a:srgbClr val="5F5F5F"/>
      </a:accent5>
      <a:accent6>
        <a:srgbClr val="BDC7CB"/>
      </a:accent6>
      <a:hlink>
        <a:srgbClr val="61769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5_Office Theme">
  <a:themeElements>
    <a:clrScheme name="Custom 61">
      <a:dk1>
        <a:sysClr val="windowText" lastClr="000000"/>
      </a:dk1>
      <a:lt1>
        <a:sysClr val="window" lastClr="FFFFFF"/>
      </a:lt1>
      <a:dk2>
        <a:srgbClr val="6D787D"/>
      </a:dk2>
      <a:lt2>
        <a:srgbClr val="EEECE1"/>
      </a:lt2>
      <a:accent1>
        <a:srgbClr val="3F3F3F"/>
      </a:accent1>
      <a:accent2>
        <a:srgbClr val="808080"/>
      </a:accent2>
      <a:accent3>
        <a:srgbClr val="E20000"/>
      </a:accent3>
      <a:accent4>
        <a:srgbClr val="A6AEB1"/>
      </a:accent4>
      <a:accent5>
        <a:srgbClr val="5F5F5F"/>
      </a:accent5>
      <a:accent6>
        <a:srgbClr val="BDC7CB"/>
      </a:accent6>
      <a:hlink>
        <a:srgbClr val="61769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7023</TotalTime>
  <Words>262</Words>
  <Application>Microsoft Office PowerPoint</Application>
  <PresentationFormat>On-screen Show (4:3)</PresentationFormat>
  <Paragraphs>45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1_Office Theme</vt:lpstr>
      <vt:lpstr>15_Office Theme</vt:lpstr>
      <vt:lpstr>PowerPoint Presentation</vt:lpstr>
      <vt:lpstr>PowerPoint Presentation</vt:lpstr>
      <vt:lpstr>PowerPoint Presentation</vt:lpstr>
      <vt:lpstr>Male Vs. Female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V m</cp:lastModifiedBy>
  <cp:revision>239</cp:revision>
  <dcterms:created xsi:type="dcterms:W3CDTF">2012-04-26T17:06:14Z</dcterms:created>
  <dcterms:modified xsi:type="dcterms:W3CDTF">2026-05-05T20:15:21Z</dcterms:modified>
</cp:coreProperties>
</file>